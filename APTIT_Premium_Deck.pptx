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36576" cy="68580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94576" y="0"/>
            <a:ext cx="5266944" cy="68580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1280160"/>
            <a:ext cx="1645920" cy="64008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0" y="1280160"/>
            <a:ext cx="-1005840" cy="164592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1920240"/>
            <a:ext cx="-640080" cy="155448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2926080"/>
            <a:ext cx="2011680" cy="54864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3474720"/>
            <a:ext cx="1371600" cy="-256032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3474720"/>
            <a:ext cx="-457200" cy="109728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0" y="4572000"/>
            <a:ext cx="-1188720" cy="73152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0" y="4572000"/>
            <a:ext cx="1188720" cy="27432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5303520"/>
            <a:ext cx="1371600" cy="64008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4240" y="4846320"/>
            <a:ext cx="-1005840" cy="109728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53728" y="1207008"/>
            <a:ext cx="146304" cy="146304"/>
          </a:xfrm>
          <a:prstGeom prst="ellipse">
            <a:avLst/>
          </a:prstGeom>
          <a:solidFill>
            <a:srgbClr val="1E90FF">
              <a:alpha val="70000"/>
            </a:srgbClr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99648" y="1847088"/>
            <a:ext cx="146304" cy="146304"/>
          </a:xfrm>
          <a:prstGeom prst="ellipse">
            <a:avLst/>
          </a:prstGeom>
          <a:solidFill>
            <a:srgbClr val="1E90FF">
              <a:alpha val="70000"/>
            </a:srgbClr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2852928"/>
            <a:ext cx="146304" cy="146304"/>
          </a:xfrm>
          <a:prstGeom prst="ellipse">
            <a:avLst/>
          </a:prstGeom>
          <a:solidFill>
            <a:srgbClr val="1E90FF">
              <a:alpha val="70000"/>
            </a:srgbClr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3401568"/>
            <a:ext cx="146304" cy="146304"/>
          </a:xfrm>
          <a:prstGeom prst="ellipse">
            <a:avLst/>
          </a:prstGeom>
          <a:solidFill>
            <a:srgbClr val="1E90FF">
              <a:alpha val="70000"/>
            </a:srgbClr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31168" y="841248"/>
            <a:ext cx="146304" cy="146304"/>
          </a:xfrm>
          <a:prstGeom prst="ellipse">
            <a:avLst/>
          </a:prstGeom>
          <a:solidFill>
            <a:srgbClr val="1E90FF">
              <a:alpha val="70000"/>
            </a:srgbClr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4498848"/>
            <a:ext cx="146304" cy="146304"/>
          </a:xfrm>
          <a:prstGeom prst="ellipse">
            <a:avLst/>
          </a:prstGeom>
          <a:solidFill>
            <a:srgbClr val="1E90FF">
              <a:alpha val="70000"/>
            </a:srgbClr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3648" y="5230368"/>
            <a:ext cx="146304" cy="146304"/>
          </a:xfrm>
          <a:prstGeom prst="ellipse">
            <a:avLst/>
          </a:prstGeom>
          <a:solidFill>
            <a:srgbClr val="1E90FF">
              <a:alpha val="70000"/>
            </a:srgbClr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91088" y="4773168"/>
            <a:ext cx="146304" cy="146304"/>
          </a:xfrm>
          <a:prstGeom prst="ellipse">
            <a:avLst/>
          </a:prstGeom>
          <a:solidFill>
            <a:srgbClr val="1E90FF">
              <a:alpha val="70000"/>
            </a:srgbClr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85248" y="5870448"/>
            <a:ext cx="146304" cy="146304"/>
          </a:xfrm>
          <a:prstGeom prst="ellipse">
            <a:avLst/>
          </a:prstGeom>
          <a:solidFill>
            <a:srgbClr val="1E90FF">
              <a:alpha val="70000"/>
            </a:srgbClr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0" y="3017520"/>
            <a:ext cx="365760" cy="365760"/>
          </a:xfrm>
          <a:prstGeom prst="ellipse">
            <a:avLst/>
          </a:prstGeom>
          <a:solidFill>
            <a:srgbClr val="1E90FF">
              <a:alpha val="80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APT IT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594360" y="23317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TRANSFORMATION,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2743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BACKED BY RESULTS &amp; RELIABILITY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" y="3337560"/>
            <a:ext cx="5029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520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trusted offshore partner for building reliable, scalable,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future-ready digital solutions across global markets.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4754880"/>
            <a:ext cx="1737360" cy="73152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754880"/>
            <a:ext cx="173736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828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GCC / ODC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" y="50749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Centers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06040" y="4754880"/>
            <a:ext cx="1737360" cy="73152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4754880"/>
            <a:ext cx="173736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97480" y="4828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Offshore Dev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697480" y="50749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4754880"/>
            <a:ext cx="1737360" cy="73152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4754880"/>
            <a:ext cx="173736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4828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9160" y="50749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943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 ·  2025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132320" y="5943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ENGINEERING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200" kern="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WE ARE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Scale.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Engineered for Impact.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APTIT is a results-driven offshore IT partner specializing in building and scaling Global Capability Centres (GCCs) and Offshore Development Centres (ODCs). We combine deep technical expertise with structured execution to deliver high-performing global teams that drive scalable outcomes.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50292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1188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Presence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0120" y="3840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Collaborating with clients across US, UK, and Europe with distributed offshore teams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4480560"/>
            <a:ext cx="50292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Execution-Ready Teams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60120" y="4800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Agile, cross-functional squads built to deliver quality without delays or dependencies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5440680"/>
            <a:ext cx="502920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3212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5486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Partnership Over Vendors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960120" y="5760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 processes, clear ownership, and long-term commitment to your success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400800" y="274320"/>
            <a:ext cx="5212080" cy="6217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0" y="274320"/>
            <a:ext cx="54864" cy="62179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75120" y="594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FOUNDED TO TRANSFORM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6675120" y="9144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Offshore from a cost decision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into a strategic advantage.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675120" y="1965960"/>
            <a:ext cx="2240280" cy="137160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75120" y="1965960"/>
            <a:ext cx="22402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766560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3600" dirty="0"/>
          </a:p>
        </p:txBody>
      </p:sp>
      <p:sp>
        <p:nvSpPr>
          <p:cNvPr id="25" name="Text 20"/>
          <p:cNvSpPr/>
          <p:nvPr/>
        </p:nvSpPr>
        <p:spPr>
          <a:xfrm>
            <a:off x="6766560" y="2697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Savings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766560" y="29260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vs. local hiring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9144000" y="1965960"/>
            <a:ext cx="2240280" cy="137160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144000" y="1965960"/>
            <a:ext cx="22402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235440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</a:t>
            </a:r>
            <a:endParaRPr lang="en-US" sz="3600" dirty="0"/>
          </a:p>
        </p:txBody>
      </p:sp>
      <p:sp>
        <p:nvSpPr>
          <p:cNvPr id="30" name="Text 25"/>
          <p:cNvSpPr/>
          <p:nvPr/>
        </p:nvSpPr>
        <p:spPr>
          <a:xfrm>
            <a:off x="9235440" y="2697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Scale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9235440" y="29260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ramp-up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675120" y="3520440"/>
            <a:ext cx="2240280" cy="137160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675120" y="3520440"/>
            <a:ext cx="22402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766560" y="37033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35+</a:t>
            </a:r>
            <a:endParaRPr lang="en-US" sz="3600" dirty="0"/>
          </a:p>
        </p:txBody>
      </p:sp>
      <p:sp>
        <p:nvSpPr>
          <p:cNvPr id="35" name="Text 30"/>
          <p:cNvSpPr/>
          <p:nvPr/>
        </p:nvSpPr>
        <p:spPr>
          <a:xfrm>
            <a:off x="6766560" y="4251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766560" y="44805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delivered globally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9144000" y="3520440"/>
            <a:ext cx="2240280" cy="137160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144000" y="3520440"/>
            <a:ext cx="22402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9235440" y="37033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3600" dirty="0"/>
          </a:p>
        </p:txBody>
      </p:sp>
      <p:sp>
        <p:nvSpPr>
          <p:cNvPr id="40" name="Text 35"/>
          <p:cNvSpPr/>
          <p:nvPr/>
        </p:nvSpPr>
        <p:spPr>
          <a:xfrm>
            <a:off x="9235440" y="4251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9235440" y="44805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cycles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6675120" y="5166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Serving clients across US · UK · EU · APAC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6675120" y="5577840"/>
            <a:ext cx="109728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675120" y="5577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United States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863840" y="5577840"/>
            <a:ext cx="109728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7863840" y="5577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United Kingdom</a:t>
            </a:r>
            <a:endParaRPr lang="en-US" sz="750" dirty="0"/>
          </a:p>
        </p:txBody>
      </p:sp>
      <p:sp>
        <p:nvSpPr>
          <p:cNvPr id="47" name="Shape 42"/>
          <p:cNvSpPr/>
          <p:nvPr/>
        </p:nvSpPr>
        <p:spPr>
          <a:xfrm>
            <a:off x="9052560" y="5577840"/>
            <a:ext cx="109728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9052560" y="5577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Europe</a:t>
            </a:r>
            <a:endParaRPr lang="en-US" sz="750" dirty="0"/>
          </a:p>
        </p:txBody>
      </p:sp>
      <p:sp>
        <p:nvSpPr>
          <p:cNvPr id="49" name="Shape 44"/>
          <p:cNvSpPr/>
          <p:nvPr/>
        </p:nvSpPr>
        <p:spPr>
          <a:xfrm>
            <a:off x="10241280" y="5577840"/>
            <a:ext cx="109728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10241280" y="5577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</a:t>
            </a:r>
            <a:endParaRPr lang="en-US" sz="750" dirty="0"/>
          </a:p>
        </p:txBody>
      </p:sp>
      <p:sp>
        <p:nvSpPr>
          <p:cNvPr id="51" name="Shape 46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548640" y="6583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APT IT  ·  CONFIDENTIAL</a:t>
            </a:r>
            <a:endParaRPr lang="en-US" sz="750" dirty="0"/>
          </a:p>
        </p:txBody>
      </p:sp>
      <p:sp>
        <p:nvSpPr>
          <p:cNvPr id="53" name="Text 48"/>
          <p:cNvSpPr/>
          <p:nvPr/>
        </p:nvSpPr>
        <p:spPr>
          <a:xfrm>
            <a:off x="1161288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Solutions We Power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global teams to world-class digital products.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52044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920240"/>
            <a:ext cx="352044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2140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5146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Capability Centres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8163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Design, build, and scale GCCs that operate as a true extension of your business—talent, process, and infrastructure aligned.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51960" y="1920240"/>
            <a:ext cx="352044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1920240"/>
            <a:ext cx="352044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12140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0" y="25146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Offshore Development Centres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389120" y="28163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exclusive, high-performing teams fully integrated with your workflows—consistent output with full visibility.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001000" y="1920240"/>
            <a:ext cx="352044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01000" y="1920240"/>
            <a:ext cx="352044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12140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38160" y="25146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Offshore Development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138160" y="28163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global talent to accelerate delivery, reduce hiring friction, and build continuously without compromising quality.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02920" y="3794760"/>
            <a:ext cx="352044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02920" y="3794760"/>
            <a:ext cx="352044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95928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0080" y="4389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Development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40080" y="46908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High-performance web applications using modern frameworks—speed, security, and seamless user experiences.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251960" y="3794760"/>
            <a:ext cx="352044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251960" y="3794760"/>
            <a:ext cx="352044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995928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389120" y="4389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Development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389120" y="46908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enterprise platforms to tailored systems—software that aligns with your process and delivers measurable results.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8001000" y="3794760"/>
            <a:ext cx="352044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001000" y="3794760"/>
            <a:ext cx="352044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3995928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138160" y="4389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 Development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8138160" y="46908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High-quality iOS and Android applications focused on performance, usability, and cross-platform scalability.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0" y="6583680"/>
            <a:ext cx="1216152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48640" y="6601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APT IT  ·  CONFIDENTIAL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11612880" y="6601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We Master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44068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54406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16642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Engineering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1031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Crafting fast, intuitive, scalable user experiences with modern frameworks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31520" y="2679192"/>
            <a:ext cx="804672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67919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React.js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645920" y="2679192"/>
            <a:ext cx="649224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45920" y="2679192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Vue.js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04872" y="2679192"/>
            <a:ext cx="726948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04872" y="2679192"/>
            <a:ext cx="726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241548" y="2679192"/>
            <a:ext cx="960120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41548" y="26791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217920" y="1508760"/>
            <a:ext cx="544068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0" y="1508760"/>
            <a:ext cx="54406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9164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76288" y="16642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Development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46520" y="21031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Robust, secure, high-performance systems that power your product at scale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446520" y="2679192"/>
            <a:ext cx="726948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46520" y="2679192"/>
            <a:ext cx="726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283196" y="2679192"/>
            <a:ext cx="649224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283196" y="2679192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8042148" y="2679192"/>
            <a:ext cx="416052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42148" y="2679192"/>
            <a:ext cx="416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PHP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8567928" y="2679192"/>
            <a:ext cx="726948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567928" y="2679192"/>
            <a:ext cx="726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Laravel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9404604" y="2679192"/>
            <a:ext cx="726948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404604" y="2679192"/>
            <a:ext cx="726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02920" y="3840480"/>
            <a:ext cx="544068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02920" y="3840480"/>
            <a:ext cx="5440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23360"/>
            <a:ext cx="320040" cy="32004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161288" y="399592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Databases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731520" y="44348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Efficient, scalable data architectures for reliability and speed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731520" y="5010912"/>
            <a:ext cx="726948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31520" y="5010912"/>
            <a:ext cx="726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1568196" y="5010912"/>
            <a:ext cx="960120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1568196" y="50109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2638044" y="5010912"/>
            <a:ext cx="571500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638044" y="5010912"/>
            <a:ext cx="571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319272" y="5010912"/>
            <a:ext cx="571500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319272" y="5010912"/>
            <a:ext cx="571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6217920" y="3840480"/>
            <a:ext cx="5440680" cy="205740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217920" y="3840480"/>
            <a:ext cx="5440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023360"/>
            <a:ext cx="320040" cy="32004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6876288" y="399592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&amp; DevOps</a:t>
            </a:r>
            <a:endParaRPr lang="en-US" sz="1400" dirty="0"/>
          </a:p>
        </p:txBody>
      </p:sp>
      <p:sp>
        <p:nvSpPr>
          <p:cNvPr id="50" name="Text 44"/>
          <p:cNvSpPr/>
          <p:nvPr/>
        </p:nvSpPr>
        <p:spPr>
          <a:xfrm>
            <a:off x="6446520" y="44348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deployment, scalability, and operational excellence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6446520" y="5010912"/>
            <a:ext cx="416052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6446520" y="5010912"/>
            <a:ext cx="416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850" dirty="0"/>
          </a:p>
        </p:txBody>
      </p:sp>
      <p:sp>
        <p:nvSpPr>
          <p:cNvPr id="53" name="Shape 47"/>
          <p:cNvSpPr/>
          <p:nvPr/>
        </p:nvSpPr>
        <p:spPr>
          <a:xfrm>
            <a:off x="6972300" y="5010912"/>
            <a:ext cx="649224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6972300" y="5010912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7731252" y="5010912"/>
            <a:ext cx="960120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731252" y="50109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8801100" y="5010912"/>
            <a:ext cx="1348740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8801100" y="501091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Pipelines</a:t>
            </a:r>
            <a:endParaRPr lang="en-US" sz="850" dirty="0"/>
          </a:p>
        </p:txBody>
      </p:sp>
      <p:sp>
        <p:nvSpPr>
          <p:cNvPr id="59" name="Shape 53"/>
          <p:cNvSpPr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solidFill>
            <a:srgbClr val="10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don't just implement technologies — we align them with your business goals. Every stack decision maximizes performance, scalability, and long-term growth.</a:t>
            </a:r>
            <a:endParaRPr lang="en-US" sz="950" dirty="0"/>
          </a:p>
        </p:txBody>
      </p:sp>
      <p:sp>
        <p:nvSpPr>
          <p:cNvPr id="61" name="Text 55"/>
          <p:cNvSpPr/>
          <p:nvPr/>
        </p:nvSpPr>
        <p:spPr>
          <a:xfrm>
            <a:off x="548640" y="667512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APT IT  ·  CONFIDENTIAL</a:t>
            </a:r>
            <a:endParaRPr lang="en-US" sz="750" dirty="0"/>
          </a:p>
        </p:txBody>
      </p:sp>
      <p:sp>
        <p:nvSpPr>
          <p:cNvPr id="62" name="Text 56"/>
          <p:cNvSpPr/>
          <p:nvPr/>
        </p:nvSpPr>
        <p:spPr>
          <a:xfrm>
            <a:off x="11612880" y="667512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MODELS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Ways We Partner With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66160" cy="475488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356616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594360" cy="594360"/>
          </a:xfrm>
          <a:prstGeom prst="ellipse">
            <a:avLst/>
          </a:prstGeom>
          <a:solidFill>
            <a:srgbClr val="0A4FA0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4767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9476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 Long-term products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31520" y="2587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 Squad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31520" y="3063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fully aligned, long-term team of developers, QA specialists, and a project manager working as an extension of your business.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1520" y="4114800"/>
            <a:ext cx="310896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5196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33272" y="42336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team ownership &amp; accountability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27448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3272" y="47091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innovation model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02936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33272" y="51846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 Slack &amp; sprint ceremonies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678424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33272" y="566013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Scales with your roadmap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4389120" y="1600200"/>
            <a:ext cx="3566160" cy="475488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389120" y="1600200"/>
            <a:ext cx="356616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617720" y="1828800"/>
            <a:ext cx="594360" cy="594360"/>
          </a:xfrm>
          <a:prstGeom prst="ellipse">
            <a:avLst/>
          </a:prstGeom>
          <a:solidFill>
            <a:srgbClr val="0A4FA0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1947672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49240" y="19476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 Defined projects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4617720" y="2587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Scope Delivery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4617720" y="3063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requirements, defined timelines, and predictable costs — all agreed upfront for projects with well-documented specifications.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617720" y="4114800"/>
            <a:ext cx="310896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251960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19472" y="42336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Upfront scope &amp; budget agreement</a:t>
            </a:r>
            <a:endParaRPr lang="en-US" sz="9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4727448"/>
            <a:ext cx="182880" cy="18288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19472" y="47091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Milestone-based delivery</a:t>
            </a:r>
            <a:endParaRPr lang="en-US" sz="95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720" y="5202936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19472" y="51846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risk allocation</a:t>
            </a:r>
            <a:endParaRPr lang="en-US" sz="95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7720" y="5678424"/>
            <a:ext cx="182880" cy="1828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19472" y="566013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outcomes defined</a:t>
            </a:r>
            <a:endParaRPr lang="en-US" sz="950" dirty="0"/>
          </a:p>
        </p:txBody>
      </p:sp>
      <p:sp>
        <p:nvSpPr>
          <p:cNvPr id="37" name="Shape 25"/>
          <p:cNvSpPr/>
          <p:nvPr/>
        </p:nvSpPr>
        <p:spPr>
          <a:xfrm>
            <a:off x="8275320" y="1600200"/>
            <a:ext cx="3566160" cy="475488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8275320" y="1600200"/>
            <a:ext cx="356616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8503920" y="1828800"/>
            <a:ext cx="594360" cy="594360"/>
          </a:xfrm>
          <a:prstGeom prst="ellipse">
            <a:avLst/>
          </a:prstGeom>
          <a:solidFill>
            <a:srgbClr val="0A4FA0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2792" y="1947672"/>
            <a:ext cx="347472" cy="347472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9235440" y="19476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 Evolving projects</a:t>
            </a:r>
            <a:endParaRPr lang="en-US" sz="750" dirty="0"/>
          </a:p>
        </p:txBody>
      </p:sp>
      <p:sp>
        <p:nvSpPr>
          <p:cNvPr id="42" name="Text 29"/>
          <p:cNvSpPr/>
          <p:nvPr/>
        </p:nvSpPr>
        <p:spPr>
          <a:xfrm>
            <a:off x="8503920" y="2587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On-Demand (T&amp;M)</a:t>
            </a:r>
            <a:endParaRPr lang="en-US" sz="1700" dirty="0"/>
          </a:p>
        </p:txBody>
      </p:sp>
      <p:sp>
        <p:nvSpPr>
          <p:cNvPr id="43" name="Text 30"/>
          <p:cNvSpPr/>
          <p:nvPr/>
        </p:nvSpPr>
        <p:spPr>
          <a:xfrm>
            <a:off x="8503920" y="3063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 agile with a flexible model where you pay for actual effort. Perfect for rapid iterations and shifting priorities.</a:t>
            </a:r>
            <a:endParaRPr lang="en-US" sz="950" dirty="0"/>
          </a:p>
        </p:txBody>
      </p:sp>
      <p:sp>
        <p:nvSpPr>
          <p:cNvPr id="44" name="Shape 31"/>
          <p:cNvSpPr/>
          <p:nvPr/>
        </p:nvSpPr>
        <p:spPr>
          <a:xfrm>
            <a:off x="8503920" y="4114800"/>
            <a:ext cx="310896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3920" y="4251960"/>
            <a:ext cx="182880" cy="18288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8805672" y="42336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 only for hours worked</a:t>
            </a:r>
            <a:endParaRPr lang="en-US" sz="950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3920" y="4727448"/>
            <a:ext cx="182880" cy="18288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8805672" y="47091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Maximum flexibility</a:t>
            </a:r>
            <a:endParaRPr lang="en-US" sz="95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3920" y="5202936"/>
            <a:ext cx="182880" cy="18288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8805672" y="51846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Ideal for R&amp;D &amp; experiments</a:t>
            </a:r>
            <a:endParaRPr lang="en-US" sz="950" dirty="0"/>
          </a:p>
        </p:txBody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03920" y="5678424"/>
            <a:ext cx="182880" cy="182880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8805672" y="566013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 priorities anytime</a:t>
            </a:r>
            <a:endParaRPr lang="en-US" sz="950" dirty="0"/>
          </a:p>
        </p:txBody>
      </p:sp>
      <p:sp>
        <p:nvSpPr>
          <p:cNvPr id="53" name="Text 36"/>
          <p:cNvSpPr/>
          <p:nvPr/>
        </p:nvSpPr>
        <p:spPr>
          <a:xfrm>
            <a:off x="548640" y="667512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APT IT  ·  CONFIDENTIAL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1612880" y="667512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PROCESS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Idea to Impact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operate in focused two-week sprints — continuous visibility, measurable progress, and the flexibility to adapt as your product evolves.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051560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1E90FF"/>
          </a:solidFill>
          <a:ln w="25400">
            <a:solidFill>
              <a:srgbClr val="4D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328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3291840"/>
            <a:ext cx="169164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3291840"/>
            <a:ext cx="169164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063240"/>
            <a:ext cx="0" cy="228600"/>
          </a:xfrm>
          <a:prstGeom prst="line">
            <a:avLst/>
          </a:prstGeom>
          <a:noFill/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0156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Discovery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4069080"/>
            <a:ext cx="15727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 on business goals, technical landscape &amp; long-term vision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2514600"/>
            <a:ext cx="548640" cy="548640"/>
          </a:xfrm>
          <a:prstGeom prst="ellipse">
            <a:avLst/>
          </a:prstGeom>
          <a:solidFill>
            <a:srgbClr val="1E90FF"/>
          </a:solidFill>
          <a:ln w="25400">
            <a:solidFill>
              <a:srgbClr val="4D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5328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30552" y="3291840"/>
            <a:ext cx="169164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0552" y="3291840"/>
            <a:ext cx="169164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8920" y="3063240"/>
            <a:ext cx="0" cy="228600"/>
          </a:xfrm>
          <a:prstGeom prst="line">
            <a:avLst/>
          </a:prstGeom>
          <a:noFill/>
          <a:ln w="12700">
            <a:solidFill>
              <a:srgbClr val="1E9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340156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Architecture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4069080"/>
            <a:ext cx="15727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scalable, future-ready systems tailored to your needs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89120" y="2514600"/>
            <a:ext cx="548640" cy="548640"/>
          </a:xfrm>
          <a:prstGeom prst="ellipse">
            <a:avLst/>
          </a:prstGeom>
          <a:solidFill>
            <a:srgbClr val="1E90FF"/>
          </a:solidFill>
          <a:ln w="25400">
            <a:solidFill>
              <a:srgbClr val="4D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25328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05072" y="3291840"/>
            <a:ext cx="169164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05072" y="3291840"/>
            <a:ext cx="169164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063240"/>
            <a:ext cx="0" cy="228600"/>
          </a:xfrm>
          <a:prstGeom prst="line">
            <a:avLst/>
          </a:prstGeom>
          <a:noFill/>
          <a:ln w="12700">
            <a:solidFill>
              <a:srgbClr val="1E9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340156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 Development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69080" y="4069080"/>
            <a:ext cx="15727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 2-week sprints with demos, feedback loops &amp; full transparency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63640" y="2514600"/>
            <a:ext cx="548640" cy="548640"/>
          </a:xfrm>
          <a:prstGeom prst="ellipse">
            <a:avLst/>
          </a:prstGeom>
          <a:solidFill>
            <a:srgbClr val="1E90FF"/>
          </a:solidFill>
          <a:ln w="25400">
            <a:solidFill>
              <a:srgbClr val="4D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5328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79592" y="3291840"/>
            <a:ext cx="169164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79592" y="3291840"/>
            <a:ext cx="169164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3063240"/>
            <a:ext cx="0" cy="228600"/>
          </a:xfrm>
          <a:prstGeom prst="line">
            <a:avLst/>
          </a:prstGeom>
          <a:noFill/>
          <a:ln w="12700">
            <a:solidFill>
              <a:srgbClr val="1E9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40156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&amp; QA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43600" y="4069080"/>
            <a:ext cx="15727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testing, performance checks &amp; seamless integrations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38160" y="2514600"/>
            <a:ext cx="548640" cy="548640"/>
          </a:xfrm>
          <a:prstGeom prst="ellipse">
            <a:avLst/>
          </a:prstGeom>
          <a:solidFill>
            <a:srgbClr val="1E90FF"/>
          </a:solidFill>
          <a:ln w="25400">
            <a:solidFill>
              <a:srgbClr val="4DA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0" y="25328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54112" y="3291840"/>
            <a:ext cx="169164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54112" y="3291840"/>
            <a:ext cx="169164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3063240"/>
            <a:ext cx="0" cy="228600"/>
          </a:xfrm>
          <a:prstGeom prst="line">
            <a:avLst/>
          </a:prstGeom>
          <a:noFill/>
          <a:ln w="12700">
            <a:solidFill>
              <a:srgbClr val="1E90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340156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Launch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818120" y="4069080"/>
            <a:ext cx="15727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Smooth, secure, optimized go-live from cloud setup to launch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012680" y="2514600"/>
            <a:ext cx="548640" cy="548640"/>
          </a:xfrm>
          <a:prstGeom prst="ellipse">
            <a:avLst/>
          </a:prstGeom>
          <a:solidFill>
            <a:srgbClr val="1E90FF"/>
          </a:solidFill>
          <a:ln w="25400">
            <a:solidFill>
              <a:srgbClr val="4DA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12680" y="25328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628632" y="3291840"/>
            <a:ext cx="169164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28632" y="3291840"/>
            <a:ext cx="169164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287000" y="3063240"/>
            <a:ext cx="0" cy="228600"/>
          </a:xfrm>
          <a:prstGeom prst="line">
            <a:avLst/>
          </a:prstGeom>
          <a:noFill/>
          <a:ln w="12700">
            <a:solidFill>
              <a:srgbClr val="1E90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92640" y="340156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&amp; Scale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692640" y="4069080"/>
            <a:ext cx="15727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Post-launch optimization, team scaling &amp; product evolution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solidFill>
            <a:srgbClr val="10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62819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D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communication · Predictable delivery · Scalable execution — because great products aren't just built, they're continuously refined.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48640" y="6693408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APT IT  ·  CONFIDENTIAL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612880" y="669340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HIGHLIGHTS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Scale. Proven by Impact.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486400" cy="233172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54864" cy="2331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152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Headless eCommerce Platform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17720" y="1645920"/>
            <a:ext cx="1234440" cy="822960"/>
          </a:xfrm>
          <a:prstGeom prst="rect">
            <a:avLst/>
          </a:prstGeom>
          <a:solidFill>
            <a:srgbClr val="050D1A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733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1214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Conversion Increase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23957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Dedicated Offshore Team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624328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Engineered a scalable headless eCommerce platform with dynamic catalogue management, multi-vendor onboarding, and seamless checkout experiences.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502152"/>
            <a:ext cx="903427" cy="22860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02152"/>
            <a:ext cx="903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eCommerce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744675" y="3502152"/>
            <a:ext cx="1128370" cy="22860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44675" y="3502152"/>
            <a:ext cx="11283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Headless CMS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982773" y="3502152"/>
            <a:ext cx="1128370" cy="22860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82773" y="3502152"/>
            <a:ext cx="11283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Multi-vendor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355080" y="1508760"/>
            <a:ext cx="5486400" cy="233172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508760"/>
            <a:ext cx="54864" cy="2331720"/>
          </a:xfrm>
          <a:prstGeom prst="rect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645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C0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58368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Telemedicine Platform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469880" y="1645920"/>
            <a:ext cx="1234440" cy="822960"/>
          </a:xfrm>
          <a:prstGeom prst="rect">
            <a:avLst/>
          </a:prstGeom>
          <a:solidFill>
            <a:srgbClr val="050D1A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69880" y="16733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0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469880" y="21214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Satisfaction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583680" y="23957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ODC Model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0" y="2624328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Delivered a secure enterprise-grade telemedicine platform integrating video consultations, digital prescriptions, and compliant payment systems.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83680" y="3502152"/>
            <a:ext cx="978408" cy="22860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502152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HealthTech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671816" y="3502152"/>
            <a:ext cx="903427" cy="22860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71816" y="3502152"/>
            <a:ext cx="903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API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684971" y="3502152"/>
            <a:ext cx="603504" cy="22860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4971" y="3502152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HIPAA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2920" y="4069080"/>
            <a:ext cx="5486400" cy="233172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069080"/>
            <a:ext cx="54864" cy="2331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2062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FINTECH — NEW YORK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1520" y="4453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Credit Risk Scoring Engine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4617720" y="4206240"/>
            <a:ext cx="1234440" cy="822960"/>
          </a:xfrm>
          <a:prstGeom prst="rect">
            <a:avLst/>
          </a:prstGeom>
          <a:solidFill>
            <a:srgbClr val="050D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4233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617720" y="46817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Assessment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31520" y="4956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High-performance Offshore Setup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31520" y="5184648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and deployed an AI-powered credit risk scoring engine with real-time financial API integration and advanced analytics for faster lending decisions.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" y="6062472"/>
            <a:ext cx="603504" cy="22860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6062472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444752" y="6062472"/>
            <a:ext cx="678485" cy="22860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44752" y="6062472"/>
            <a:ext cx="678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FinAPI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32965" y="6062472"/>
            <a:ext cx="903427" cy="22860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32965" y="6062472"/>
            <a:ext cx="903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355080" y="4069080"/>
            <a:ext cx="5486400" cy="2331720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55080" y="4069080"/>
            <a:ext cx="54864" cy="2331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42062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 TECH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583680" y="4453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Contract Review Assistant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10469880" y="4206240"/>
            <a:ext cx="1234440" cy="822960"/>
          </a:xfrm>
          <a:prstGeom prst="rect">
            <a:avLst/>
          </a:prstGeom>
          <a:solidFill>
            <a:srgbClr val="050D1A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469880" y="4233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10469880" y="46817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 Time ↓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583680" y="4956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Dedicated Engineering Team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583680" y="5184648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Developed an AI-driven contract review assistant using modern LLM frameworks — automated document analysis and significantly accelerated legal workflows.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83680" y="6062472"/>
            <a:ext cx="453542" cy="22860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0" y="6062472"/>
            <a:ext cx="4535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146950" y="6062472"/>
            <a:ext cx="828446" cy="22860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46950" y="6062472"/>
            <a:ext cx="8284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 AI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085125" y="6062472"/>
            <a:ext cx="453542" cy="228600"/>
          </a:xfrm>
          <a:prstGeom prst="rect">
            <a:avLst/>
          </a:prstGeom>
          <a:solidFill>
            <a:srgbClr val="050D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85125" y="6062472"/>
            <a:ext cx="4535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48640" y="667512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APT IT  ·  CONFIDENTIAL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1612880" y="667512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&amp; SECURITY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Engineered for Reliability.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Trust.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APT, quality and security aren't phases — they're embedded into everything we build. Every product is resilient, secure, and production-ready from day one.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 STANDARDS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5468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1363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automated testing — unit, integration, and user flows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850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36667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Rigorous manual QA cycles before every release for real-world performance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1538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41970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Mandatory peer code reviews across all pull requests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4573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47274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Sprint-based delivery with demos, feedback, and performance validation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548640" y="5321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PRACTICES</a:t>
            </a:r>
            <a:endParaRPr lang="en-US" sz="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669280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1248" y="5650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Strict NDA, IP protection &amp; data confidentiality from project kick-off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016752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1248" y="59984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OWASP-aligned secure development practices</a:t>
            </a:r>
            <a:endParaRPr lang="en-US" sz="9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64224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41248" y="63459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GDPR-compliant data handling with strong governance &amp; access controls</a:t>
            </a:r>
            <a:endParaRPr lang="en-US" sz="900" dirty="0"/>
          </a:p>
        </p:txBody>
      </p:sp>
      <p:sp>
        <p:nvSpPr>
          <p:cNvPr id="22" name="Shape 13"/>
          <p:cNvSpPr/>
          <p:nvPr/>
        </p:nvSpPr>
        <p:spPr>
          <a:xfrm>
            <a:off x="6583680" y="274320"/>
            <a:ext cx="5029200" cy="6309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6583680" y="274320"/>
            <a:ext cx="50292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6812280" y="502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APT STANDARD vs INDUSTRY</a:t>
            </a:r>
            <a:endParaRPr lang="en-US" sz="850" dirty="0"/>
          </a:p>
        </p:txBody>
      </p:sp>
      <p:sp>
        <p:nvSpPr>
          <p:cNvPr id="25" name="Text 16"/>
          <p:cNvSpPr/>
          <p:nvPr/>
        </p:nvSpPr>
        <p:spPr>
          <a:xfrm>
            <a:off x="6812280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891540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APT IT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0058400" y="960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6812280" y="1261872"/>
            <a:ext cx="4480560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601968" y="1325880"/>
            <a:ext cx="4992624" cy="548640"/>
          </a:xfrm>
          <a:prstGeom prst="rect">
            <a:avLst/>
          </a:prstGeom>
          <a:solidFill>
            <a:srgbClr val="0D1F35">
              <a:alpha val="7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681228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Testing</a:t>
            </a:r>
            <a:endParaRPr lang="en-US" sz="9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120" y="1481328"/>
            <a:ext cx="182880" cy="18288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189720" y="1417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0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CI/CD</a:t>
            </a:r>
            <a:endParaRPr lang="en-US" sz="850" dirty="0"/>
          </a:p>
        </p:txBody>
      </p:sp>
      <p:sp>
        <p:nvSpPr>
          <p:cNvPr id="33" name="Text 23"/>
          <p:cNvSpPr/>
          <p:nvPr/>
        </p:nvSpPr>
        <p:spPr>
          <a:xfrm>
            <a:off x="1005840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</a:t>
            </a:r>
            <a:endParaRPr lang="en-US" sz="850" dirty="0"/>
          </a:p>
        </p:txBody>
      </p:sp>
      <p:sp>
        <p:nvSpPr>
          <p:cNvPr id="34" name="Text 24"/>
          <p:cNvSpPr/>
          <p:nvPr/>
        </p:nvSpPr>
        <p:spPr>
          <a:xfrm>
            <a:off x="681228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Reviews</a:t>
            </a:r>
            <a:endParaRPr lang="en-US" sz="9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0" y="2048256"/>
            <a:ext cx="182880" cy="18288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189720" y="19842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0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PRs</a:t>
            </a:r>
            <a:endParaRPr lang="en-US" sz="850" dirty="0"/>
          </a:p>
        </p:txBody>
      </p:sp>
      <p:sp>
        <p:nvSpPr>
          <p:cNvPr id="37" name="Text 26"/>
          <p:cNvSpPr/>
          <p:nvPr/>
        </p:nvSpPr>
        <p:spPr>
          <a:xfrm>
            <a:off x="10058400" y="1938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Selective</a:t>
            </a:r>
            <a:endParaRPr lang="en-US" sz="850" dirty="0"/>
          </a:p>
        </p:txBody>
      </p:sp>
      <p:sp>
        <p:nvSpPr>
          <p:cNvPr id="38" name="Shape 27"/>
          <p:cNvSpPr/>
          <p:nvPr/>
        </p:nvSpPr>
        <p:spPr>
          <a:xfrm>
            <a:off x="6601968" y="2459736"/>
            <a:ext cx="4992624" cy="548640"/>
          </a:xfrm>
          <a:prstGeom prst="rect">
            <a:avLst/>
          </a:prstGeom>
          <a:solidFill>
            <a:srgbClr val="0D1F35">
              <a:alpha val="7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812280" y="25054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NDA from Day 1</a:t>
            </a:r>
            <a:endParaRPr lang="en-US" sz="95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1120" y="2615184"/>
            <a:ext cx="182880" cy="18288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189720" y="25511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0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</a:t>
            </a:r>
            <a:endParaRPr lang="en-US" sz="850" dirty="0"/>
          </a:p>
        </p:txBody>
      </p:sp>
      <p:sp>
        <p:nvSpPr>
          <p:cNvPr id="42" name="Text 30"/>
          <p:cNvSpPr/>
          <p:nvPr/>
        </p:nvSpPr>
        <p:spPr>
          <a:xfrm>
            <a:off x="10058400" y="25054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Request</a:t>
            </a:r>
            <a:endParaRPr lang="en-US" sz="850" dirty="0"/>
          </a:p>
        </p:txBody>
      </p:sp>
      <p:sp>
        <p:nvSpPr>
          <p:cNvPr id="43" name="Text 31"/>
          <p:cNvSpPr/>
          <p:nvPr/>
        </p:nvSpPr>
        <p:spPr>
          <a:xfrm>
            <a:off x="6812280" y="30723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OWASP Standards</a:t>
            </a:r>
            <a:endParaRPr lang="en-US" sz="95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1120" y="3182112"/>
            <a:ext cx="182880" cy="18288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9189720" y="311810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0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Enforced</a:t>
            </a:r>
            <a:endParaRPr lang="en-US" sz="850" dirty="0"/>
          </a:p>
        </p:txBody>
      </p:sp>
      <p:sp>
        <p:nvSpPr>
          <p:cNvPr id="46" name="Text 33"/>
          <p:cNvSpPr/>
          <p:nvPr/>
        </p:nvSpPr>
        <p:spPr>
          <a:xfrm>
            <a:off x="10058400" y="30723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Varies</a:t>
            </a:r>
            <a:endParaRPr lang="en-US" sz="850" dirty="0"/>
          </a:p>
        </p:txBody>
      </p:sp>
      <p:sp>
        <p:nvSpPr>
          <p:cNvPr id="47" name="Shape 34"/>
          <p:cNvSpPr/>
          <p:nvPr/>
        </p:nvSpPr>
        <p:spPr>
          <a:xfrm>
            <a:off x="6601968" y="3593592"/>
            <a:ext cx="4992624" cy="548640"/>
          </a:xfrm>
          <a:prstGeom prst="rect">
            <a:avLst/>
          </a:prstGeom>
          <a:solidFill>
            <a:srgbClr val="0D1F35">
              <a:alpha val="7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6812280" y="36393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GDPR Compliance</a:t>
            </a:r>
            <a:endParaRPr lang="en-US" sz="95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1120" y="3749040"/>
            <a:ext cx="182880" cy="182880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9189720" y="36850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0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</a:t>
            </a:r>
            <a:endParaRPr lang="en-US" sz="850" dirty="0"/>
          </a:p>
        </p:txBody>
      </p:sp>
      <p:sp>
        <p:nvSpPr>
          <p:cNvPr id="51" name="Text 37"/>
          <p:cNvSpPr/>
          <p:nvPr/>
        </p:nvSpPr>
        <p:spPr>
          <a:xfrm>
            <a:off x="10058400" y="3639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</a:t>
            </a:r>
            <a:endParaRPr lang="en-US" sz="850" dirty="0"/>
          </a:p>
        </p:txBody>
      </p:sp>
      <p:sp>
        <p:nvSpPr>
          <p:cNvPr id="52" name="Text 38"/>
          <p:cNvSpPr/>
          <p:nvPr/>
        </p:nvSpPr>
        <p:spPr>
          <a:xfrm>
            <a:off x="681228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Transparency</a:t>
            </a:r>
            <a:endParaRPr lang="en-US" sz="950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61120" y="4315968"/>
            <a:ext cx="182880" cy="182880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9189720" y="4251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0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demos</a:t>
            </a:r>
            <a:endParaRPr lang="en-US" sz="850" dirty="0"/>
          </a:p>
        </p:txBody>
      </p:sp>
      <p:sp>
        <p:nvSpPr>
          <p:cNvPr id="55" name="Text 40"/>
          <p:cNvSpPr/>
          <p:nvPr/>
        </p:nvSpPr>
        <p:spPr>
          <a:xfrm>
            <a:off x="100584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</a:t>
            </a:r>
            <a:endParaRPr lang="en-US" sz="850" dirty="0"/>
          </a:p>
        </p:txBody>
      </p:sp>
      <p:sp>
        <p:nvSpPr>
          <p:cNvPr id="56" name="Shape 41"/>
          <p:cNvSpPr/>
          <p:nvPr/>
        </p:nvSpPr>
        <p:spPr>
          <a:xfrm>
            <a:off x="6601968" y="4727448"/>
            <a:ext cx="4992624" cy="548640"/>
          </a:xfrm>
          <a:prstGeom prst="rect">
            <a:avLst/>
          </a:prstGeom>
          <a:solidFill>
            <a:srgbClr val="0D1F35">
              <a:alpha val="7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7" name="Text 42"/>
          <p:cNvSpPr/>
          <p:nvPr/>
        </p:nvSpPr>
        <p:spPr>
          <a:xfrm>
            <a:off x="6812280" y="47731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Post-launch Support</a:t>
            </a:r>
            <a:endParaRPr lang="en-US" sz="950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61120" y="4882896"/>
            <a:ext cx="182880" cy="182880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9189720" y="48188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0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Included</a:t>
            </a:r>
            <a:endParaRPr lang="en-US" sz="850" dirty="0"/>
          </a:p>
        </p:txBody>
      </p:sp>
      <p:sp>
        <p:nvSpPr>
          <p:cNvPr id="60" name="Text 44"/>
          <p:cNvSpPr/>
          <p:nvPr/>
        </p:nvSpPr>
        <p:spPr>
          <a:xfrm>
            <a:off x="10058400" y="47731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 cost</a:t>
            </a:r>
            <a:endParaRPr lang="en-US" sz="850" dirty="0"/>
          </a:p>
        </p:txBody>
      </p:sp>
      <p:sp>
        <p:nvSpPr>
          <p:cNvPr id="61" name="Text 45"/>
          <p:cNvSpPr/>
          <p:nvPr/>
        </p:nvSpPr>
        <p:spPr>
          <a:xfrm>
            <a:off x="548640" y="6693408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APT IT  ·  CONFIDENTIAL</a:t>
            </a:r>
            <a:endParaRPr lang="en-US" sz="750" dirty="0"/>
          </a:p>
        </p:txBody>
      </p:sp>
      <p:sp>
        <p:nvSpPr>
          <p:cNvPr id="62" name="Text 46"/>
          <p:cNvSpPr/>
          <p:nvPr/>
        </p:nvSpPr>
        <p:spPr>
          <a:xfrm>
            <a:off x="11612880" y="669340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1097280"/>
            <a:ext cx="1371600" cy="118872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0" y="2286000"/>
            <a:ext cx="-914400" cy="118872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1097280"/>
            <a:ext cx="1828800" cy="-36576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1097280"/>
            <a:ext cx="-914400" cy="164592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0" y="3474720"/>
            <a:ext cx="-1371600" cy="-73152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0" y="3474720"/>
            <a:ext cx="731520" cy="109728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2286000"/>
            <a:ext cx="-182880" cy="2286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0" y="1005840"/>
            <a:ext cx="182880" cy="182880"/>
          </a:xfrm>
          <a:prstGeom prst="ellipse">
            <a:avLst/>
          </a:prstGeom>
          <a:solidFill>
            <a:srgbClr val="1E90FF">
              <a:alpha val="6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0" y="2194560"/>
            <a:ext cx="182880" cy="182880"/>
          </a:xfrm>
          <a:prstGeom prst="ellipse">
            <a:avLst/>
          </a:prstGeom>
          <a:solidFill>
            <a:srgbClr val="1E90FF">
              <a:alpha val="6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0" y="3383280"/>
            <a:ext cx="182880" cy="182880"/>
          </a:xfrm>
          <a:prstGeom prst="ellipse">
            <a:avLst/>
          </a:prstGeom>
          <a:solidFill>
            <a:srgbClr val="1E90FF">
              <a:alpha val="6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640080"/>
            <a:ext cx="182880" cy="182880"/>
          </a:xfrm>
          <a:prstGeom prst="ellipse">
            <a:avLst/>
          </a:prstGeom>
          <a:solidFill>
            <a:srgbClr val="1E90FF">
              <a:alpha val="6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2651760"/>
            <a:ext cx="182880" cy="182880"/>
          </a:xfrm>
          <a:prstGeom prst="ellipse">
            <a:avLst/>
          </a:prstGeom>
          <a:solidFill>
            <a:srgbClr val="1E90FF">
              <a:alpha val="6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4480560"/>
            <a:ext cx="182880" cy="182880"/>
          </a:xfrm>
          <a:prstGeom prst="ellipse">
            <a:avLst/>
          </a:prstGeom>
          <a:solidFill>
            <a:srgbClr val="1E90FF">
              <a:alpha val="6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BUILD?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13716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Your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Engineering Team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1371600" y="3200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GCCs to fully managed offshore teams — we don't just deliver projects,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build scalable engineering capabilities that drive measurable outcomes.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17520" y="4251960"/>
            <a:ext cx="2560320" cy="5943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4251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 a Discovery Call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4251960"/>
            <a:ext cx="2560320" cy="594360"/>
          </a:xfrm>
          <a:prstGeom prst="rect">
            <a:avLst/>
          </a:prstGeom>
          <a:solidFill>
            <a:srgbClr val="050D1A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4251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5166360"/>
            <a:ext cx="6400800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5321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hello@aptit.com  ·  www.aptit.com  ·  Available across US · UK · EU · APAC timezones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5852160"/>
            <a:ext cx="1554480" cy="384048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5852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 Aligned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06240" y="5852160"/>
            <a:ext cx="1554480" cy="384048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5852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NDA Day 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5852160"/>
            <a:ext cx="1554480" cy="384048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5852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OWASP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63840" y="5852160"/>
            <a:ext cx="1554480" cy="384048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0" y="5852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GDPR Ready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71600" y="66294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APT IT  ·  Digital Transformation, Backed by Results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APT IT — Enterprise Pitch Deck</dc:title>
  <dc:subject>PptxGenJS Presentation</dc:subject>
  <dc:creator>PptxGenJS</dc:creator>
  <cp:lastModifiedBy>PptxGenJS</cp:lastModifiedBy>
  <cp:revision>1</cp:revision>
  <dcterms:created xsi:type="dcterms:W3CDTF">2026-05-04T06:23:31Z</dcterms:created>
  <dcterms:modified xsi:type="dcterms:W3CDTF">2026-05-04T06:23:31Z</dcterms:modified>
</cp:coreProperties>
</file>